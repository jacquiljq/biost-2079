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6"/>
  </p:notesMasterIdLst>
  <p:sldIdLst>
    <p:sldId id="256" r:id="rId2"/>
    <p:sldId id="257" r:id="rId3"/>
    <p:sldId id="258" r:id="rId4"/>
    <p:sldId id="259" r:id="rId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0840" autoAdjust="0"/>
  </p:normalViewPr>
  <p:slideViewPr>
    <p:cSldViewPr snapToGrid="0" snapToObjects="1">
      <p:cViewPr varScale="1">
        <p:scale>
          <a:sx n="67" d="100"/>
          <a:sy n="67" d="100"/>
        </p:scale>
        <p:origin x="149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DC722F-0789-4DF8-A557-79B95C8DF6AC}" type="datetimeFigureOut">
              <a:rPr lang="en-US" smtClean="0"/>
              <a:t>4/20/2026</a:t>
            </a:fld>
            <a:endParaRPr 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53A73A-2601-4E4E-89C8-7D41AD6321BC}" type="slidenum">
              <a:rPr lang="en-US" smtClean="0"/>
              <a:t>‹#›</a:t>
            </a:fld>
            <a:endParaRPr lang="en-US"/>
          </a:p>
        </p:txBody>
      </p:sp>
    </p:spTree>
    <p:extLst>
      <p:ext uri="{BB962C8B-B14F-4D97-AF65-F5344CB8AC3E}">
        <p14:creationId xmlns:p14="http://schemas.microsoft.com/office/powerpoint/2010/main" val="398988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Hello everyone. My project is about predicting whether a diabetic patient will be readmitted to the hospital within 30 days after discharge.</a:t>
            </a:r>
          </a:p>
          <a:p>
            <a:r>
              <a:rPr lang="en-US" dirty="0"/>
              <a:t>This is an important and interesting healthcare problem because 30-day readmission is widely used as an indicator of care quality, and it is also associated with substantial hospital cost.</a:t>
            </a:r>
          </a:p>
          <a:p>
            <a:r>
              <a:rPr lang="en-US" dirty="0"/>
              <a:t>If high-risk patients can be identified earlier, hospitals may be able to improve discharge planning, follow-up care, and post-discharge support.</a:t>
            </a:r>
          </a:p>
          <a:p>
            <a:r>
              <a:rPr lang="en-US" dirty="0"/>
              <a:t>So the main goal of this project is to build a machine learning model that can help identify patients at elevated risk of early readmission.</a:t>
            </a:r>
          </a:p>
        </p:txBody>
      </p:sp>
      <p:sp>
        <p:nvSpPr>
          <p:cNvPr id="4" name="灯片编号占位符 3"/>
          <p:cNvSpPr>
            <a:spLocks noGrp="1"/>
          </p:cNvSpPr>
          <p:nvPr>
            <p:ph type="sldNum" sz="quarter" idx="5"/>
          </p:nvPr>
        </p:nvSpPr>
        <p:spPr/>
        <p:txBody>
          <a:bodyPr/>
          <a:lstStyle/>
          <a:p>
            <a:fld id="{5653A73A-2601-4E4E-89C8-7D41AD6321BC}" type="slidenum">
              <a:rPr lang="en-US" smtClean="0"/>
              <a:t>1</a:t>
            </a:fld>
            <a:endParaRPr lang="en-US"/>
          </a:p>
        </p:txBody>
      </p:sp>
    </p:spTree>
    <p:extLst>
      <p:ext uri="{BB962C8B-B14F-4D97-AF65-F5344CB8AC3E}">
        <p14:creationId xmlns:p14="http://schemas.microsoft.com/office/powerpoint/2010/main" val="86790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I used the UCI diabetes readmission dataset, which contains about 101,000 hospital encounters from 130 US hospitals. The dataset includes around 50 variables covering demographics, diagnoses, medications, laboratory procedures, and prior healthcare utilization.</a:t>
            </a:r>
          </a:p>
          <a:p>
            <a:r>
              <a:rPr lang="en-US" dirty="0"/>
              <a:t>The graph here shows the distribution of the original readmission categories. We can see that the group readmitted within 30 days, which is the target of greatest clinical interest, is much smaller than the other groups. This shows that class imbalance would be one of the main difficulties in the project.</a:t>
            </a:r>
          </a:p>
          <a:p>
            <a:r>
              <a:rPr lang="en-US" dirty="0"/>
              <a:t>To make the problem more clinically meaningful, </a:t>
            </a:r>
            <a:r>
              <a:rPr lang="en-US" altLang="zh-CN" dirty="0"/>
              <a:t>I</a:t>
            </a:r>
            <a:r>
              <a:rPr lang="en-US" dirty="0"/>
              <a:t> converted the original three-class target into a binary classification task, where the positive class is readmission within 30 days, and the negative class includes all other cases.</a:t>
            </a:r>
          </a:p>
          <a:p>
            <a:r>
              <a:rPr lang="en-US" dirty="0"/>
              <a:t>Another important challenge was missing data. For example, </a:t>
            </a:r>
            <a:r>
              <a:rPr lang="en-US" sz="1200" kern="1200" dirty="0" err="1">
                <a:solidFill>
                  <a:schemeClr val="tx1"/>
                </a:solidFill>
                <a:latin typeface="+mn-lt"/>
                <a:ea typeface="+mn-ea"/>
                <a:cs typeface="+mn-cs"/>
              </a:rPr>
              <a:t>max_glu_serum</a:t>
            </a:r>
            <a:r>
              <a:rPr lang="en-US" dirty="0"/>
              <a:t>, </a:t>
            </a:r>
            <a:r>
              <a:rPr lang="en-US" sz="1200" kern="1200" dirty="0">
                <a:solidFill>
                  <a:schemeClr val="tx1"/>
                </a:solidFill>
                <a:latin typeface="+mn-lt"/>
                <a:ea typeface="+mn-ea"/>
                <a:cs typeface="+mn-cs"/>
              </a:rPr>
              <a:t>A1Cresult</a:t>
            </a:r>
            <a:r>
              <a:rPr lang="en-US" dirty="0"/>
              <a:t>, and </a:t>
            </a:r>
            <a:r>
              <a:rPr lang="en-US" sz="1200" kern="1200" dirty="0">
                <a:solidFill>
                  <a:schemeClr val="tx1"/>
                </a:solidFill>
                <a:latin typeface="+mn-lt"/>
                <a:ea typeface="+mn-ea"/>
                <a:cs typeface="+mn-cs"/>
              </a:rPr>
              <a:t>weight</a:t>
            </a:r>
            <a:r>
              <a:rPr lang="en-US" dirty="0"/>
              <a:t> each had more than 80% missing values, so I removed these columns rather than trying to impute such incomplete information. </a:t>
            </a:r>
          </a:p>
          <a:p>
            <a:r>
              <a:rPr lang="en-US" dirty="0"/>
              <a:t>For the remaining features, I handled missing values within the preprocessing pipeline: I used median imputation for numerical variables and most-frequent imputation for categorical variables. After that, I applied feature engineering, one-hot encoding, and scaling, and used oversampling during training to address class imbalance.</a:t>
            </a:r>
          </a:p>
        </p:txBody>
      </p:sp>
      <p:sp>
        <p:nvSpPr>
          <p:cNvPr id="4" name="灯片编号占位符 3"/>
          <p:cNvSpPr>
            <a:spLocks noGrp="1"/>
          </p:cNvSpPr>
          <p:nvPr>
            <p:ph type="sldNum" sz="quarter" idx="5"/>
          </p:nvPr>
        </p:nvSpPr>
        <p:spPr/>
        <p:txBody>
          <a:bodyPr/>
          <a:lstStyle/>
          <a:p>
            <a:fld id="{5653A73A-2601-4E4E-89C8-7D41AD6321BC}" type="slidenum">
              <a:rPr lang="en-US" smtClean="0"/>
              <a:t>2</a:t>
            </a:fld>
            <a:endParaRPr lang="en-US"/>
          </a:p>
        </p:txBody>
      </p:sp>
    </p:spTree>
    <p:extLst>
      <p:ext uri="{BB962C8B-B14F-4D97-AF65-F5344CB8AC3E}">
        <p14:creationId xmlns:p14="http://schemas.microsoft.com/office/powerpoint/2010/main" val="1253245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I compared six baseline models: Logistic Regression, KNN, Decision Tree, Random Forest, Gradient Boosting, and MLP.</a:t>
            </a:r>
          </a:p>
          <a:p>
            <a:r>
              <a:rPr lang="en-US" dirty="0"/>
              <a:t>Among them Gradient Boosting achieved the best overall performance on the holdout test set. It reached the highest AUC, about 0.68, and also the highest recall, about 0.63. In this project, recall is especially important because the practical goal is to identify as many high-risk patients as possible.</a:t>
            </a:r>
          </a:p>
          <a:p>
            <a:r>
              <a:rPr lang="en-US" dirty="0"/>
              <a:t>A useful contrast is Random Forest. At first glance, Random Forest looks very strong because it achieved a very high accuracy of about 0.89. However, its recall was only 0.03, which means it missed almost all of the actual positive cases. So although the accuracy looks impressive, the model is not very useful for the real screening objective of this task.</a:t>
            </a:r>
          </a:p>
          <a:p>
            <a:r>
              <a:rPr lang="en-US" dirty="0"/>
              <a:t>This comparison shows why accuracy can be misleading in imbalanced healthcare prediction problems. Gradient Boosting performed better because it was much more sensitive to the minority class, even though that came at the cost of lower precision, as you also see that reflected in the confusion matrix for gradient </a:t>
            </a:r>
            <a:r>
              <a:rPr lang="en-US" dirty="0" err="1"/>
              <a:t>bossting</a:t>
            </a:r>
            <a:r>
              <a:rPr lang="en-US" dirty="0"/>
              <a:t>. In other words, it generated more false positives, but it was much better at catching truly high-risk patients.</a:t>
            </a:r>
          </a:p>
          <a:p>
            <a:r>
              <a:rPr lang="en-US" dirty="0"/>
              <a:t>I also examined feature importance. The most influential variables included prior inpatient visits, discharge disposition, number of medications, number of laboratory procedures, and time in hospital. These features are clinically plausible because they reflect disease burden, prior utilization, and care complexity.</a:t>
            </a:r>
          </a:p>
          <a:p>
            <a:endParaRPr lang="en-US" dirty="0"/>
          </a:p>
        </p:txBody>
      </p:sp>
      <p:sp>
        <p:nvSpPr>
          <p:cNvPr id="4" name="灯片编号占位符 3"/>
          <p:cNvSpPr>
            <a:spLocks noGrp="1"/>
          </p:cNvSpPr>
          <p:nvPr>
            <p:ph type="sldNum" sz="quarter" idx="5"/>
          </p:nvPr>
        </p:nvSpPr>
        <p:spPr/>
        <p:txBody>
          <a:bodyPr/>
          <a:lstStyle/>
          <a:p>
            <a:fld id="{5653A73A-2601-4E4E-89C8-7D41AD6321BC}" type="slidenum">
              <a:rPr lang="en-US" smtClean="0"/>
              <a:t>3</a:t>
            </a:fld>
            <a:endParaRPr lang="en-US"/>
          </a:p>
        </p:txBody>
      </p:sp>
    </p:spTree>
    <p:extLst>
      <p:ext uri="{BB962C8B-B14F-4D97-AF65-F5344CB8AC3E}">
        <p14:creationId xmlns:p14="http://schemas.microsoft.com/office/powerpoint/2010/main" val="3789653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In conclusion, this project shows that predicting 30-day readmission for diabetic patients is feasible, but still challenging. The combination of class imbalance, noisy tabular features, and moderate signal in the data limits overall performance.</a:t>
            </a:r>
          </a:p>
          <a:p>
            <a:r>
              <a:rPr lang="en-US" dirty="0"/>
              <a:t>Among the models we tested, ensemble methods performed best, especially Gradient Boosting, which provided the strongest overall tradeoff between discrimination and sensitivity to the positive class. At the same time, the model is not perfect. Its precision is still low, meaning that many flagged patients would not actually be readmitted within 30 days.</a:t>
            </a:r>
          </a:p>
          <a:p>
            <a:r>
              <a:rPr lang="en-US" dirty="0"/>
              <a:t>I also found that the interpretation results were meaningful. Variables related to prior hospital use, discharge conditions, and treatment complexity appeared to be the most important predictors, which aligns well with clinical intuition and with findings from prior work.</a:t>
            </a:r>
          </a:p>
          <a:p>
            <a:r>
              <a:rPr lang="en-US" dirty="0"/>
              <a:t>For future work, the most natural next steps would be to add stronger tabular models such as </a:t>
            </a:r>
            <a:r>
              <a:rPr lang="en-US" dirty="0" err="1"/>
              <a:t>XGBoost</a:t>
            </a:r>
            <a:r>
              <a:rPr lang="en-US" dirty="0"/>
              <a:t> or </a:t>
            </a:r>
            <a:r>
              <a:rPr lang="en-US" dirty="0" err="1"/>
              <a:t>LightGBM</a:t>
            </a:r>
            <a:r>
              <a:rPr lang="en-US" dirty="0"/>
              <a:t>, tune the prediction threshold to better balance precision and recall, and perform fairness analysis across different patient groups.</a:t>
            </a:r>
          </a:p>
          <a:p>
            <a:r>
              <a:rPr lang="en-US" dirty="0"/>
              <a:t>Overall, I think this model is a useful screening tool for prioritizing follow-up attention, rather than as a final decision-making system.</a:t>
            </a:r>
          </a:p>
          <a:p>
            <a:endParaRPr lang="en-US" dirty="0"/>
          </a:p>
        </p:txBody>
      </p:sp>
      <p:sp>
        <p:nvSpPr>
          <p:cNvPr id="4" name="灯片编号占位符 3"/>
          <p:cNvSpPr>
            <a:spLocks noGrp="1"/>
          </p:cNvSpPr>
          <p:nvPr>
            <p:ph type="sldNum" sz="quarter" idx="5"/>
          </p:nvPr>
        </p:nvSpPr>
        <p:spPr/>
        <p:txBody>
          <a:bodyPr/>
          <a:lstStyle/>
          <a:p>
            <a:fld id="{5653A73A-2601-4E4E-89C8-7D41AD6321BC}" type="slidenum">
              <a:rPr lang="en-US" smtClean="0"/>
              <a:t>4</a:t>
            </a:fld>
            <a:endParaRPr lang="en-US"/>
          </a:p>
        </p:txBody>
      </p:sp>
    </p:spTree>
    <p:extLst>
      <p:ext uri="{BB962C8B-B14F-4D97-AF65-F5344CB8AC3E}">
        <p14:creationId xmlns:p14="http://schemas.microsoft.com/office/powerpoint/2010/main" val="30186017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0544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245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zh-CN" altLang="en-US"/>
              <a:t>单击此处编辑母版标题样式</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1896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7274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594359" y="3132667"/>
            <a:ext cx="3910579" cy="313097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2098" y="3132667"/>
            <a:ext cx="3907541" cy="313097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5781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2780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154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72547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1196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275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标题和描述">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3944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带描述的引言">
    <p:spTree>
      <p:nvGrpSpPr>
        <p:cNvPr id="1" name=""/>
        <p:cNvGrpSpPr/>
        <p:nvPr/>
      </p:nvGrpSpPr>
      <p:grpSpPr>
        <a:xfrm>
          <a:off x="0" y="0"/>
          <a:ext cx="0" cy="0"/>
          <a:chOff x="0" y="0"/>
          <a:chExt cx="0" cy="0"/>
        </a:xfrm>
      </p:grpSpPr>
      <p:pic>
        <p:nvPicPr>
          <p:cNvPr id="15" name="Picture 14"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025467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名片">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4/20/2026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8603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zh-CN" altLang="en-US"/>
              <a:t>单击此处编辑母版标题样式</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5BCAD085-E8A6-8845-BD4E-CB4CCA059FC4}"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5654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zh-CN" altLang="en-US"/>
              <a:t>单击此处编辑母版标题样式</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5BCAD085-E8A6-8845-BD4E-CB4CCA059FC4}"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11523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7659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4/20/2026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20780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4/20/2026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74388607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2847" y="1475697"/>
            <a:ext cx="6653734" cy="1505190"/>
          </a:xfrm>
        </p:spPr>
        <p:txBody>
          <a:bodyPr>
            <a:normAutofit fontScale="90000"/>
          </a:bodyPr>
          <a:lstStyle/>
          <a:p>
            <a:r>
              <a:rPr lang="en-US" dirty="0"/>
              <a:t>PREDICTING 30-DAY HOSPITAL READMISSION FOR DIABETIC PATIENTS</a:t>
            </a:r>
          </a:p>
        </p:txBody>
      </p:sp>
      <p:sp>
        <p:nvSpPr>
          <p:cNvPr id="3" name="Content Placeholder 2"/>
          <p:cNvSpPr>
            <a:spLocks noGrp="1"/>
          </p:cNvSpPr>
          <p:nvPr>
            <p:ph idx="1"/>
          </p:nvPr>
        </p:nvSpPr>
        <p:spPr>
          <a:xfrm>
            <a:off x="452858" y="2676202"/>
            <a:ext cx="7753882" cy="3559593"/>
          </a:xfrm>
        </p:spPr>
        <p:txBody>
          <a:bodyPr anchor="ctr">
            <a:normAutofit/>
          </a:bodyPr>
          <a:lstStyle/>
          <a:p>
            <a:pPr marL="0" indent="0">
              <a:buNone/>
            </a:pPr>
            <a:r>
              <a:rPr lang="en-US" sz="1600" dirty="0"/>
              <a:t>• Project: Predict whether a diabetic patient will be readmitted within 30 days after discharge</a:t>
            </a:r>
          </a:p>
          <a:p>
            <a:pPr marL="0" indent="0">
              <a:buNone/>
            </a:pPr>
            <a:r>
              <a:rPr lang="en-US" sz="1600" dirty="0"/>
              <a:t>• Why it matters:</a:t>
            </a:r>
          </a:p>
          <a:p>
            <a:pPr marL="0" indent="0">
              <a:buNone/>
            </a:pPr>
            <a:r>
              <a:rPr lang="en-US" sz="1600" dirty="0"/>
              <a:t>  - 30-day readmission is a key healthcare quality indicator</a:t>
            </a:r>
          </a:p>
          <a:p>
            <a:pPr marL="0" indent="0">
              <a:buNone/>
            </a:pPr>
            <a:r>
              <a:rPr lang="en-US" sz="1600" dirty="0"/>
              <a:t>  - Early risk prediction may support discharge planning and follow-up care</a:t>
            </a:r>
          </a:p>
          <a:p>
            <a:pPr marL="0" indent="0">
              <a:buNone/>
            </a:pPr>
            <a:r>
              <a:rPr lang="en-US" sz="1600" dirty="0"/>
              <a:t>• Real-world value:</a:t>
            </a:r>
          </a:p>
          <a:p>
            <a:pPr marL="0" indent="0">
              <a:buNone/>
            </a:pPr>
            <a:r>
              <a:rPr lang="en-US" sz="1600" dirty="0"/>
              <a:t>  - Helps identify high-risk patients earlier</a:t>
            </a:r>
          </a:p>
          <a:p>
            <a:pPr marL="0" indent="0">
              <a:buNone/>
            </a:pPr>
            <a:r>
              <a:rPr lang="en-US" sz="1600" dirty="0"/>
              <a:t>  - May support more efficient use of hospital resources</a:t>
            </a:r>
          </a:p>
        </p:txBody>
      </p:sp>
      <p:sp>
        <p:nvSpPr>
          <p:cNvPr id="4" name="文本框 3">
            <a:extLst>
              <a:ext uri="{FF2B5EF4-FFF2-40B4-BE49-F238E27FC236}">
                <a16:creationId xmlns:a16="http://schemas.microsoft.com/office/drawing/2014/main" id="{9166577D-5ED4-DF91-DF61-F29E7A6288BB}"/>
              </a:ext>
            </a:extLst>
          </p:cNvPr>
          <p:cNvSpPr txBox="1"/>
          <p:nvPr/>
        </p:nvSpPr>
        <p:spPr>
          <a:xfrm>
            <a:off x="7355020" y="2032670"/>
            <a:ext cx="1703439" cy="369332"/>
          </a:xfrm>
          <a:prstGeom prst="rect">
            <a:avLst/>
          </a:prstGeom>
          <a:noFill/>
        </p:spPr>
        <p:txBody>
          <a:bodyPr wrap="square" rtlCol="0">
            <a:spAutoFit/>
          </a:bodyPr>
          <a:lstStyle/>
          <a:p>
            <a:r>
              <a:rPr lang="en-US" altLang="zh-CN" dirty="0" err="1"/>
              <a:t>Jiaqing</a:t>
            </a:r>
            <a:r>
              <a:rPr lang="en-US" altLang="zh-CN" dirty="0"/>
              <a:t> Li</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and Key Challenges</a:t>
            </a:r>
          </a:p>
        </p:txBody>
      </p:sp>
      <p:sp>
        <p:nvSpPr>
          <p:cNvPr id="3" name="Content Placeholder 2"/>
          <p:cNvSpPr>
            <a:spLocks noGrp="1"/>
          </p:cNvSpPr>
          <p:nvPr>
            <p:ph idx="1"/>
          </p:nvPr>
        </p:nvSpPr>
        <p:spPr>
          <a:xfrm>
            <a:off x="594360" y="2194560"/>
            <a:ext cx="4069080" cy="4069080"/>
          </a:xfrm>
        </p:spPr>
        <p:txBody>
          <a:bodyPr>
            <a:normAutofit fontScale="77500" lnSpcReduction="20000"/>
          </a:bodyPr>
          <a:lstStyle/>
          <a:p>
            <a:r>
              <a:rPr lang="en-US" dirty="0"/>
              <a:t>• Dataset: UCI Diabetes dataset (~101k encounters, ~50 features)</a:t>
            </a:r>
          </a:p>
          <a:p>
            <a:r>
              <a:rPr lang="en-US" dirty="0"/>
              <a:t>• Features: demographics, diagnoses, medications, utilization</a:t>
            </a:r>
          </a:p>
          <a:p>
            <a:r>
              <a:rPr lang="en-US" dirty="0"/>
              <a:t>• Key challenges:</a:t>
            </a:r>
          </a:p>
          <a:p>
            <a:r>
              <a:rPr lang="en-US" dirty="0"/>
              <a:t>  - Severe class imbalance (~11% positive)</a:t>
            </a:r>
          </a:p>
          <a:p>
            <a:r>
              <a:rPr lang="en-US" dirty="0"/>
              <a:t>  - High-dimensional mixed-type features</a:t>
            </a:r>
          </a:p>
          <a:p>
            <a:r>
              <a:rPr lang="en-US" dirty="0"/>
              <a:t>  - Missing values and sparse categories</a:t>
            </a:r>
          </a:p>
          <a:p>
            <a:r>
              <a:rPr lang="en-US" dirty="0"/>
              <a:t>• Preprocessing:</a:t>
            </a:r>
          </a:p>
          <a:p>
            <a:r>
              <a:rPr lang="en-US" dirty="0"/>
              <a:t>  - Cleaning, feature engineering, encoding, scaling, oversampling</a:t>
            </a:r>
            <a:endParaRPr dirty="0"/>
          </a:p>
        </p:txBody>
      </p:sp>
      <p:pic>
        <p:nvPicPr>
          <p:cNvPr id="4" name="图片 3">
            <a:extLst>
              <a:ext uri="{FF2B5EF4-FFF2-40B4-BE49-F238E27FC236}">
                <a16:creationId xmlns:a16="http://schemas.microsoft.com/office/drawing/2014/main" id="{0E1FE134-DF8D-5D20-9C83-B553CED9AF11}"/>
              </a:ext>
            </a:extLst>
          </p:cNvPr>
          <p:cNvPicPr>
            <a:picLocks noChangeAspect="1"/>
          </p:cNvPicPr>
          <p:nvPr/>
        </p:nvPicPr>
        <p:blipFill>
          <a:blip r:embed="rId3"/>
          <a:stretch>
            <a:fillRect/>
          </a:stretch>
        </p:blipFill>
        <p:spPr>
          <a:xfrm>
            <a:off x="4400550" y="2057401"/>
            <a:ext cx="4251960" cy="337846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71550"/>
            <a:ext cx="3028951" cy="2561775"/>
          </a:xfrm>
        </p:spPr>
        <p:txBody>
          <a:bodyPr>
            <a:normAutofit/>
          </a:bodyPr>
          <a:lstStyle/>
          <a:p>
            <a:r>
              <a:rPr sz="1800" dirty="0"/>
              <a:t>Compared 6 models</a:t>
            </a:r>
          </a:p>
          <a:p>
            <a:r>
              <a:rPr sz="1800" dirty="0"/>
              <a:t>Best: Gradient Boosting</a:t>
            </a:r>
          </a:p>
          <a:p>
            <a:r>
              <a:rPr sz="1800" dirty="0"/>
              <a:t>AUC: 0.678 | Recall: 0.630 | F1: 0.278</a:t>
            </a:r>
          </a:p>
          <a:p>
            <a:r>
              <a:rPr sz="1800" dirty="0"/>
              <a:t>RF: high accuracy but very low recall</a:t>
            </a:r>
          </a:p>
          <a:p>
            <a:r>
              <a:rPr sz="1800" dirty="0"/>
              <a:t>Accuracy is misleading</a:t>
            </a:r>
          </a:p>
        </p:txBody>
      </p:sp>
      <p:pic>
        <p:nvPicPr>
          <p:cNvPr id="13" name="图片 12">
            <a:extLst>
              <a:ext uri="{FF2B5EF4-FFF2-40B4-BE49-F238E27FC236}">
                <a16:creationId xmlns:a16="http://schemas.microsoft.com/office/drawing/2014/main" id="{32CC4274-2680-E6B5-3735-0A89714E1960}"/>
              </a:ext>
            </a:extLst>
          </p:cNvPr>
          <p:cNvPicPr>
            <a:picLocks noChangeAspect="1"/>
          </p:cNvPicPr>
          <p:nvPr/>
        </p:nvPicPr>
        <p:blipFill>
          <a:blip r:embed="rId3"/>
          <a:stretch>
            <a:fillRect/>
          </a:stretch>
        </p:blipFill>
        <p:spPr>
          <a:xfrm>
            <a:off x="285749" y="3499035"/>
            <a:ext cx="3723323" cy="3212696"/>
          </a:xfrm>
          <a:prstGeom prst="rect">
            <a:avLst/>
          </a:prstGeom>
        </p:spPr>
      </p:pic>
      <p:pic>
        <p:nvPicPr>
          <p:cNvPr id="15" name="图片 14">
            <a:extLst>
              <a:ext uri="{FF2B5EF4-FFF2-40B4-BE49-F238E27FC236}">
                <a16:creationId xmlns:a16="http://schemas.microsoft.com/office/drawing/2014/main" id="{961F35EA-8E5F-1A30-6602-FF45D7FA0415}"/>
              </a:ext>
            </a:extLst>
          </p:cNvPr>
          <p:cNvPicPr>
            <a:picLocks noChangeAspect="1"/>
          </p:cNvPicPr>
          <p:nvPr/>
        </p:nvPicPr>
        <p:blipFill>
          <a:blip r:embed="rId4"/>
          <a:stretch>
            <a:fillRect/>
          </a:stretch>
        </p:blipFill>
        <p:spPr>
          <a:xfrm>
            <a:off x="4009072" y="3650810"/>
            <a:ext cx="4974907" cy="2909146"/>
          </a:xfrm>
          <a:prstGeom prst="rect">
            <a:avLst/>
          </a:prstGeom>
        </p:spPr>
      </p:pic>
      <p:sp>
        <p:nvSpPr>
          <p:cNvPr id="2" name="Title 1"/>
          <p:cNvSpPr>
            <a:spLocks noGrp="1"/>
          </p:cNvSpPr>
          <p:nvPr>
            <p:ph type="title"/>
          </p:nvPr>
        </p:nvSpPr>
        <p:spPr>
          <a:xfrm>
            <a:off x="-240030" y="-223604"/>
            <a:ext cx="7680960" cy="1293028"/>
          </a:xfrm>
        </p:spPr>
        <p:txBody>
          <a:bodyPr>
            <a:normAutofit/>
          </a:bodyPr>
          <a:lstStyle/>
          <a:p>
            <a:r>
              <a:rPr sz="3200" dirty="0"/>
              <a:t>Model Comparison and Results</a:t>
            </a:r>
          </a:p>
        </p:txBody>
      </p:sp>
      <p:pic>
        <p:nvPicPr>
          <p:cNvPr id="17" name="图片 16">
            <a:extLst>
              <a:ext uri="{FF2B5EF4-FFF2-40B4-BE49-F238E27FC236}">
                <a16:creationId xmlns:a16="http://schemas.microsoft.com/office/drawing/2014/main" id="{7877C164-CBB7-6F81-E1BF-4A973E2D30A8}"/>
              </a:ext>
            </a:extLst>
          </p:cNvPr>
          <p:cNvPicPr>
            <a:picLocks noChangeAspect="1"/>
          </p:cNvPicPr>
          <p:nvPr/>
        </p:nvPicPr>
        <p:blipFill>
          <a:blip r:embed="rId5"/>
          <a:stretch>
            <a:fillRect/>
          </a:stretch>
        </p:blipFill>
        <p:spPr>
          <a:xfrm>
            <a:off x="3182444" y="1404921"/>
            <a:ext cx="5801535" cy="159089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and Future Work</a:t>
            </a:r>
          </a:p>
        </p:txBody>
      </p:sp>
      <p:sp>
        <p:nvSpPr>
          <p:cNvPr id="3" name="Content Placeholder 2"/>
          <p:cNvSpPr>
            <a:spLocks noGrp="1"/>
          </p:cNvSpPr>
          <p:nvPr>
            <p:ph idx="1"/>
          </p:nvPr>
        </p:nvSpPr>
        <p:spPr/>
        <p:txBody>
          <a:bodyPr/>
          <a:lstStyle/>
          <a:p>
            <a:r>
              <a:t>GB gives best balance</a:t>
            </a:r>
          </a:p>
          <a:p>
            <a:r>
              <a:t>Clinically meaningful features identified</a:t>
            </a:r>
          </a:p>
          <a:p>
            <a:r>
              <a:t>Limitations: low precision</a:t>
            </a:r>
          </a:p>
          <a:p>
            <a:r>
              <a:t>Future: XGBoost, threshold tuning, fairness</a:t>
            </a:r>
          </a:p>
        </p:txBody>
      </p:sp>
    </p:spTree>
  </p:cSld>
  <p:clrMapOvr>
    <a:masterClrMapping/>
  </p:clrMapOvr>
</p:sld>
</file>

<file path=ppt/theme/theme1.xml><?xml version="1.0" encoding="utf-8"?>
<a:theme xmlns:a="http://schemas.openxmlformats.org/drawingml/2006/main" name="水汽尾迹">
  <a:themeElements>
    <a:clrScheme name="水汽尾迹">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水汽尾迹">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水汽尾迹">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水汽尾迹</Template>
  <TotalTime>43</TotalTime>
  <Words>1021</Words>
  <Application>Microsoft Office PowerPoint</Application>
  <PresentationFormat>全屏显示(4:3)</PresentationFormat>
  <Paragraphs>52</Paragraphs>
  <Slides>4</Slides>
  <Notes>4</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vt:i4>
      </vt:variant>
    </vt:vector>
  </HeadingPairs>
  <TitlesOfParts>
    <vt:vector size="8" baseType="lpstr">
      <vt:lpstr>Aptos</vt:lpstr>
      <vt:lpstr>Arial</vt:lpstr>
      <vt:lpstr>Century Gothic</vt:lpstr>
      <vt:lpstr>水汽尾迹</vt:lpstr>
      <vt:lpstr>PREDICTING 30-DAY HOSPITAL READMISSION FOR DIABETIC PATIENTS</vt:lpstr>
      <vt:lpstr>Dataset and Key Challenges</vt:lpstr>
      <vt:lpstr>Model Comparison and Results</vt:lpstr>
      <vt:lpstr>Conclusion and Future Work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Jacqui Li</cp:lastModifiedBy>
  <cp:revision>10</cp:revision>
  <dcterms:created xsi:type="dcterms:W3CDTF">2013-01-27T09:14:16Z</dcterms:created>
  <dcterms:modified xsi:type="dcterms:W3CDTF">2026-04-20T06:53:20Z</dcterms:modified>
  <cp:category/>
</cp:coreProperties>
</file>